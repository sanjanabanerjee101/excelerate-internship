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68" r:id="rId16"/>
  </p:sldIdLst>
  <p:sldSz cx="12192000" cy="6858000"/>
  <p:notesSz cx="6858000" cy="9144000"/>
  <p:embeddedFontLst>
    <p:embeddedFont>
      <p:font typeface="Century Schoolbook" panose="02040604050505020304" pitchFamily="18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1h9vkci3IBlH/LVa2AhCGZ910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298266-DFF9-4355-97A4-410C556346B8}">
  <a:tblStyle styleId="{E8298266-DFF9-4355-97A4-410C556346B8}" styleName="Table_0">
    <a:wholeTbl>
      <a:tcTxStyle b="off" i="off">
        <a:font>
          <a:latin typeface="Century Schoolbook"/>
          <a:ea typeface="Century Schoolbook"/>
          <a:cs typeface="Century Schoolbook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BEB"/>
          </a:solidFill>
        </a:fill>
      </a:tcStyle>
    </a:wholeTbl>
    <a:band1H>
      <a:tcTxStyle/>
      <a:tcStyle>
        <a:tcBdr/>
        <a:fill>
          <a:solidFill>
            <a:srgbClr val="D4D4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D4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D53D2A2-B174-4775-BD0A-9C4DAB253B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2" name="Google Shape;82;p33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4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9" name="Google Shape;9;p2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0" name="Google Shape;10;p2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2104792" y="1082775"/>
            <a:ext cx="58917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Schoolbook"/>
              <a:buNone/>
            </a:pPr>
            <a:r>
              <a:rPr lang="en-US" sz="5400" dirty="0"/>
              <a:t>FINAL </a:t>
            </a:r>
            <a:r>
              <a:rPr lang="en-US" sz="5400" u="sng" dirty="0"/>
              <a:t>DELIVERABE   </a:t>
            </a:r>
            <a:endParaRPr u="sng"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2790330" y="2065245"/>
            <a:ext cx="54930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US" sz="8973" b="1">
                <a:solidFill>
                  <a:srgbClr val="BFBFBF"/>
                </a:solidFill>
              </a:rPr>
              <a:t>DVA 0610 TEAM 4</a:t>
            </a:r>
            <a:r>
              <a:rPr lang="en-US" sz="8973" b="1">
                <a:solidFill>
                  <a:srgbClr val="A5A5A5"/>
                </a:solidFill>
              </a:rPr>
              <a:t> </a:t>
            </a:r>
            <a:endParaRPr sz="8973" b="1">
              <a:solidFill>
                <a:srgbClr val="A5A5A5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endParaRPr/>
          </a:p>
        </p:txBody>
      </p:sp>
      <p:graphicFrame>
        <p:nvGraphicFramePr>
          <p:cNvPr id="104" name="Google Shape;104;p1"/>
          <p:cNvGraphicFramePr/>
          <p:nvPr/>
        </p:nvGraphicFramePr>
        <p:xfrm>
          <a:off x="2104792" y="3129415"/>
          <a:ext cx="8128000" cy="2865190"/>
        </p:xfrm>
        <a:graphic>
          <a:graphicData uri="http://schemas.openxmlformats.org/drawingml/2006/table">
            <a:tbl>
              <a:tblPr firstRow="1" bandRow="1">
                <a:noFill/>
                <a:tableStyleId>{E8298266-DFF9-4355-97A4-410C556346B8}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Email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Sanjana Banerjee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mail4sanjanabanerjee@gmail.com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Vishnu Ayinipully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vishnuayinipully725@gmail.com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Asma Batool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asma.batoolahmad@gmail.com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Harini 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harinimiffy11@gmail.com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Sandra Banda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sandrabanda552@gmail.com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Asish Bag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bagasish1@gmail.com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title"/>
          </p:nvPr>
        </p:nvSpPr>
        <p:spPr>
          <a:xfrm>
            <a:off x="713225" y="542725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OBJECTIVE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</a:t>
            </a:r>
            <a:endParaRPr/>
          </a:p>
        </p:txBody>
      </p:sp>
      <p:sp>
        <p:nvSpPr>
          <p:cNvPr id="110" name="Google Shape;110;p2"/>
          <p:cNvSpPr txBox="1">
            <a:spLocks noGrp="1"/>
          </p:cNvSpPr>
          <p:nvPr>
            <p:ph type="body" idx="1"/>
          </p:nvPr>
        </p:nvSpPr>
        <p:spPr>
          <a:xfrm>
            <a:off x="713225" y="1972100"/>
            <a:ext cx="98142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1" b="1">
                <a:latin typeface="Times New Roman"/>
                <a:ea typeface="Times New Roman"/>
                <a:cs typeface="Times New Roman"/>
                <a:sym typeface="Times New Roman"/>
              </a:rPr>
              <a:t>To ensure the accuracy, consistency, and completeness of campaign data through systematic cleaning, SQL-based validation, and visual analysis — enabling reliable insights for performance</a:t>
            </a:r>
            <a:r>
              <a:rPr lang="en-US" sz="187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38" b="1">
                <a:latin typeface="Times New Roman"/>
                <a:ea typeface="Times New Roman"/>
                <a:cs typeface="Times New Roman"/>
                <a:sym typeface="Times New Roman"/>
              </a:rPr>
              <a:t>evaluation and strategic decision-making.</a:t>
            </a:r>
            <a:endParaRPr sz="213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6870" algn="l" rtl="0">
              <a:lnSpc>
                <a:spcPct val="85000"/>
              </a:lnSpc>
              <a:spcBef>
                <a:spcPts val="1600"/>
              </a:spcBef>
              <a:spcAft>
                <a:spcPts val="0"/>
              </a:spcAft>
              <a:buSzPts val="2020"/>
              <a:buFont typeface="Times New Roman"/>
              <a:buChar char="●"/>
            </a:pPr>
            <a:r>
              <a:rPr lang="en-US" sz="2020" b="1">
                <a:latin typeface="Times New Roman"/>
                <a:ea typeface="Times New Roman"/>
                <a:cs typeface="Times New Roman"/>
                <a:sym typeface="Times New Roman"/>
              </a:rPr>
              <a:t>Looker Studio Dashboard Link </a:t>
            </a:r>
            <a:r>
              <a:rPr lang="en-US" sz="2420" b="1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20" u="sng">
                <a:latin typeface="Times New Roman"/>
                <a:ea typeface="Times New Roman"/>
                <a:cs typeface="Times New Roman"/>
                <a:sym typeface="Times New Roman"/>
              </a:rPr>
              <a:t>https://lookerstudio.google.com/reporting/c22df009-d5db-4cc5-b998-438a31cf38b4</a:t>
            </a:r>
            <a:endParaRPr sz="18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2" descr="A logo with text on i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850" y="4598375"/>
            <a:ext cx="9082750" cy="22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521950" y="522200"/>
            <a:ext cx="10416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DATA CLEANING – SQL SCRIPT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body" idx="1"/>
          </p:nvPr>
        </p:nvSpPr>
        <p:spPr>
          <a:xfrm>
            <a:off x="521950" y="2035020"/>
            <a:ext cx="100086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 Deleting Invalid Phone numbers from our joined master table</a:t>
            </a:r>
            <a:r>
              <a:rPr lang="en-US" sz="17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 b="1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088" y="2598925"/>
            <a:ext cx="9079425" cy="14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225" y="4380250"/>
            <a:ext cx="4295299" cy="2204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1617725" y="4665625"/>
            <a:ext cx="3677100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Deleting duplicate data entries from our column app_id.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507156" y="727575"/>
            <a:ext cx="10067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 sz="4400"/>
              <a:t>--------------------------------------------------------</a:t>
            </a:r>
            <a:endParaRPr sz="4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 sz="4400"/>
              <a:t>DATA CLEANING – SQL SCRIPT </a:t>
            </a:r>
            <a:endParaRPr sz="4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 sz="4400"/>
              <a:t>--------------------------------------------------------</a:t>
            </a:r>
            <a:r>
              <a:rPr lang="en-US"/>
              <a:t> </a:t>
            </a:r>
            <a:endParaRPr/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2"/>
          </p:nvPr>
        </p:nvSpPr>
        <p:spPr>
          <a:xfrm>
            <a:off x="5128400" y="1598263"/>
            <a:ext cx="5926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60"/>
              <a:buNone/>
            </a:pPr>
            <a:r>
              <a:rPr lang="en-US" sz="7823" b="1"/>
              <a:t>Dropping the unwanted columns like</a:t>
            </a:r>
            <a:r>
              <a:rPr lang="en-US" sz="7823" b="1" u="sng"/>
              <a:t>:</a:t>
            </a:r>
            <a:endParaRPr sz="7823" u="sng"/>
          </a:p>
          <a:p>
            <a:pPr marL="0" lvl="0" indent="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60"/>
              <a:buNone/>
            </a:pPr>
            <a:r>
              <a:rPr lang="en-US" sz="7023" b="1"/>
              <a:t>1-intake</a:t>
            </a:r>
            <a:r>
              <a:rPr lang="en-US" sz="6623" b="1"/>
              <a:t>:</a:t>
            </a:r>
            <a:r>
              <a:rPr lang="en-US" sz="6623"/>
              <a:t> because it was unnecessary data not needed for our immediate analysis. </a:t>
            </a:r>
            <a:endParaRPr sz="6623"/>
          </a:p>
          <a:p>
            <a:pPr marL="0" lvl="0" indent="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60"/>
              <a:buNone/>
            </a:pPr>
            <a:r>
              <a:rPr lang="en-US" sz="7023" b="1"/>
              <a:t>2-Campaign university:</a:t>
            </a:r>
            <a:r>
              <a:rPr lang="en-US" sz="6623"/>
              <a:t> because it has same data as outreach university and applicant university </a:t>
            </a:r>
            <a:endParaRPr sz="6623"/>
          </a:p>
          <a:p>
            <a:pPr marL="0" lvl="0" indent="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60"/>
              <a:buNone/>
            </a:pPr>
            <a:r>
              <a:rPr lang="en-US" sz="7023" b="1"/>
              <a:t>3-Status:</a:t>
            </a:r>
            <a:r>
              <a:rPr lang="en-US" sz="6623"/>
              <a:t> because it was same status which was completed for all. </a:t>
            </a:r>
            <a:endParaRPr sz="6623"/>
          </a:p>
          <a:p>
            <a:pPr marL="0" lvl="0" indent="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60"/>
              <a:buNone/>
            </a:pPr>
            <a:r>
              <a:rPr lang="en-US" sz="7023" b="1"/>
              <a:t>4-Start date:</a:t>
            </a:r>
            <a:r>
              <a:rPr lang="en-US" sz="6623" b="1"/>
              <a:t> </a:t>
            </a:r>
            <a:r>
              <a:rPr lang="en-US" sz="6623"/>
              <a:t>because there were only 4 start dates with most of them same. </a:t>
            </a:r>
            <a:endParaRPr sz="6623"/>
          </a:p>
          <a:p>
            <a:pPr marL="0" lvl="0" indent="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60"/>
              <a:buNone/>
            </a:pPr>
            <a:r>
              <a:rPr lang="en-US" sz="7023" b="1"/>
              <a:t>5-Reference:</a:t>
            </a:r>
            <a:r>
              <a:rPr lang="en-US" sz="6623"/>
              <a:t> if because it was same as applicant id. </a:t>
            </a:r>
            <a:endParaRPr sz="6623"/>
          </a:p>
          <a:p>
            <a:pPr marL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endParaRPr/>
          </a:p>
        </p:txBody>
      </p:sp>
      <p:pic>
        <p:nvPicPr>
          <p:cNvPr id="127" name="Google Shape;12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00" y="2006463"/>
            <a:ext cx="4356100" cy="25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200" y="4853225"/>
            <a:ext cx="10418699" cy="1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379275" y="185050"/>
            <a:ext cx="10085100" cy="14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DATA CLEANING – SQL SCRIPT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633724" y="1844247"/>
            <a:ext cx="9338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Categorizing similar outcomes in connected and disconnected columns</a:t>
            </a:r>
            <a:endParaRPr sz="2000" b="1"/>
          </a:p>
        </p:txBody>
      </p:sp>
      <p:pic>
        <p:nvPicPr>
          <p:cNvPr id="135" name="Google Shape;1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25" y="2752780"/>
            <a:ext cx="6644701" cy="35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3925" y="2752775"/>
            <a:ext cx="3005300" cy="35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465713" y="759900"/>
            <a:ext cx="104013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DATA CLEANING – SQL SCRIPT &amp; LOOKER STUDIO DATA VALIDATION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sp>
        <p:nvSpPr>
          <p:cNvPr id="142" name="Google Shape;142;p9"/>
          <p:cNvSpPr txBox="1">
            <a:spLocks noGrp="1"/>
          </p:cNvSpPr>
          <p:nvPr>
            <p:ph type="body" idx="1"/>
          </p:nvPr>
        </p:nvSpPr>
        <p:spPr>
          <a:xfrm>
            <a:off x="465713" y="2003225"/>
            <a:ext cx="41256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815" b="1" dirty="0">
                <a:latin typeface="Times New Roman"/>
                <a:ea typeface="Times New Roman"/>
                <a:cs typeface="Times New Roman"/>
                <a:sym typeface="Times New Roman"/>
              </a:rPr>
              <a:t>FINAL VALIDATION OF OUR POSTGRE MASTER TABLE</a:t>
            </a:r>
            <a:endParaRPr sz="1985" dirty="0"/>
          </a:p>
          <a:p>
            <a:pPr marL="0" lvl="0" indent="0" algn="l" rtl="0"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SzPts val="1088"/>
              <a:buNone/>
            </a:pPr>
            <a:endParaRPr sz="136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274" y="2502649"/>
            <a:ext cx="4125625" cy="13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300" y="3846424"/>
            <a:ext cx="4125599" cy="7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/>
        </p:nvSpPr>
        <p:spPr>
          <a:xfrm>
            <a:off x="4979250" y="2281125"/>
            <a:ext cx="297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LOOKER STUDIO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Initial uploaded Data</a:t>
            </a:r>
            <a:endParaRPr sz="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9" descr="A screenshot of a phone number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36800" y="2141400"/>
            <a:ext cx="2545475" cy="15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 txBox="1"/>
          <p:nvPr/>
        </p:nvSpPr>
        <p:spPr>
          <a:xfrm>
            <a:off x="5238750" y="4072750"/>
            <a:ext cx="5496900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Cards on looker studio.</a:t>
            </a:r>
            <a:r>
              <a:rPr lang="en-US" sz="1800" b="1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Total Calls – Connected Calls + Disconnected Calls</a:t>
            </a:r>
            <a:endParaRPr sz="19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Connectivity Rate – Connected Calls / Total Calls x 100</a:t>
            </a:r>
            <a:endParaRPr sz="1500" b="1"/>
          </a:p>
        </p:txBody>
      </p:sp>
      <p:pic>
        <p:nvPicPr>
          <p:cNvPr id="148" name="Google Shape;148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1400" y="5551450"/>
            <a:ext cx="59342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0A01B4-E7D8-1C5E-3C2D-6CB1430602D0}"/>
              </a:ext>
            </a:extLst>
          </p:cNvPr>
          <p:cNvSpPr txBox="1"/>
          <p:nvPr/>
        </p:nvSpPr>
        <p:spPr>
          <a:xfrm>
            <a:off x="656598" y="4643509"/>
            <a:ext cx="42569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Rows dropped from 37,881 to 12,830 after cleaning and standardizing the dataset. Duplicate applicant records were removed to maintain one entry per </a:t>
            </a:r>
            <a:r>
              <a:rPr lang="en-US" dirty="0" err="1"/>
              <a:t>app_id</a:t>
            </a:r>
            <a:r>
              <a:rPr lang="en-US" dirty="0"/>
              <a:t>. Invalid or unreachable phone numbers and incomplete call records were excluded. Additionally, redundant and identifier-missing rows were dropped to ensure data accuracy and readiness for analysis.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>
            <a:spLocks noGrp="1"/>
          </p:cNvSpPr>
          <p:nvPr>
            <p:ph type="title"/>
          </p:nvPr>
        </p:nvSpPr>
        <p:spPr>
          <a:xfrm>
            <a:off x="276525" y="700825"/>
            <a:ext cx="13012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 sz="4177"/>
              <a:t>DATA ANALYSIS WITH LOOKER STUDIO - 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 sz="4177"/>
              <a:t>Campaign Success Overview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body" idx="1"/>
          </p:nvPr>
        </p:nvSpPr>
        <p:spPr>
          <a:xfrm>
            <a:off x="5977775" y="2026525"/>
            <a:ext cx="84084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1" i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Campaign name VS Number of connected calls</a:t>
            </a:r>
            <a:endParaRPr b="1"/>
          </a:p>
        </p:txBody>
      </p:sp>
      <p:pic>
        <p:nvPicPr>
          <p:cNvPr id="155" name="Google Shape;155;p13" descr="A pie chart with numbers and text&#10;&#10;AI-generated content may be incorrect.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2225" y="2026525"/>
            <a:ext cx="6119100" cy="48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 txBox="1"/>
          <p:nvPr/>
        </p:nvSpPr>
        <p:spPr>
          <a:xfrm>
            <a:off x="6716775" y="2348225"/>
            <a:ext cx="45195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The largest segment (31.4%) includes students who were admitted but have not yet deposited.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This indicates interest is high, but financial or clarity concerns remain.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21.4% deposited but are awaiting processing, meaning strong trust exists.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Students deferring admissions (16.4%) show interest but face timing or personal delays.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Follow-up efforts are crucial to convert admitted students into fee-paying enrolled students.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>
            <a:off x="443700" y="809150"/>
            <a:ext cx="11304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 sz="4177"/>
              <a:t>DATA ANALYSIS WITH LOOKER STUDIO - 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 sz="4177"/>
              <a:t>Response Status Overtime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pic>
        <p:nvPicPr>
          <p:cNvPr id="162" name="Google Shape;162;p18" descr="A screenshot of a graph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5100" y="2134850"/>
            <a:ext cx="10434900" cy="21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443700" y="4470825"/>
            <a:ext cx="70317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Peaks in call connections occurred during May–July and November.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These periods align with active admission cycles where students are making decisions.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Low engagement months (Aug–Sep &amp; Jan–Feb) coincide with exam and holiday periods.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Calling during these key decision windows significantly improves engagement</a:t>
            </a:r>
            <a:endParaRPr b="1"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6950" y="4470825"/>
            <a:ext cx="3612950" cy="21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19900" y="940550"/>
            <a:ext cx="10483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 sz="4177"/>
              <a:t>DATA ANALYSIS WITH LOOKER STUDIO - 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/>
              <a:t>Agent Performance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pic>
        <p:nvPicPr>
          <p:cNvPr id="170" name="Google Shape;1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00" y="2179475"/>
            <a:ext cx="7052300" cy="366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 txBox="1"/>
          <p:nvPr/>
        </p:nvSpPr>
        <p:spPr>
          <a:xfrm>
            <a:off x="7472200" y="3568200"/>
            <a:ext cx="38298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Prajwal and Rudra lead strongly with 2040 and 1766 successful calls.</a:t>
            </a:r>
            <a:endParaRPr sz="18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Their performance suggests effective call timing, tone, and consistent follow-ups.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24800" y="5842200"/>
            <a:ext cx="10829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Mid-level performers show potential but may require guidance on call strategies.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Lower engagement levels suggest reduced availability, lack of follow-ups, or timing issues</a:t>
            </a:r>
            <a:endParaRPr b="1"/>
          </a:p>
        </p:txBody>
      </p:sp>
      <p:sp>
        <p:nvSpPr>
          <p:cNvPr id="173" name="Google Shape;173;p15"/>
          <p:cNvSpPr txBox="1"/>
          <p:nvPr/>
        </p:nvSpPr>
        <p:spPr>
          <a:xfrm>
            <a:off x="7587150" y="2179475"/>
            <a:ext cx="28116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3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success rate of agent based on connected calls :</a:t>
            </a:r>
            <a:endParaRPr sz="2100" b="1" u="sn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>
            <a:spLocks noGrp="1"/>
          </p:cNvSpPr>
          <p:nvPr>
            <p:ph type="title"/>
          </p:nvPr>
        </p:nvSpPr>
        <p:spPr>
          <a:xfrm>
            <a:off x="402601" y="874825"/>
            <a:ext cx="11386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 sz="4177"/>
              <a:t>DATA ANALYSIS WITH LOOKER STUDIO - 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entury Schoolbook"/>
              <a:buNone/>
            </a:pPr>
            <a:r>
              <a:rPr lang="en-US"/>
              <a:t>Participants Record</a:t>
            </a:r>
            <a:endParaRPr sz="41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1"/>
          </p:nvPr>
        </p:nvSpPr>
        <p:spPr>
          <a:xfrm>
            <a:off x="238400" y="2052725"/>
            <a:ext cx="106365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100" b="1" i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 Based Performance</a:t>
            </a:r>
            <a:r>
              <a:rPr lang="en-US" sz="1800" b="1" i="1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 </a:t>
            </a:r>
            <a:r>
              <a:rPr lang="en-US" sz="2000" b="1"/>
              <a:t>- </a:t>
            </a:r>
            <a:r>
              <a:rPr lang="en-US" sz="1700" b="1"/>
              <a:t>This map shows the areas results according to number of active participants from all over the globe .</a:t>
            </a:r>
            <a:endParaRPr sz="1900" b="1"/>
          </a:p>
        </p:txBody>
      </p:sp>
      <p:pic>
        <p:nvPicPr>
          <p:cNvPr id="180" name="Google Shape;180;p16" descr="A screenshot of a computer screen&#10;&#10;AI-generated content may be incorrect.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2600" y="2732700"/>
            <a:ext cx="10472400" cy="40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309375" y="978075"/>
            <a:ext cx="11004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DATA INSIGHT - What Makes Top Agents Successful?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------------------------------------------------------------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09375" y="2303775"/>
            <a:ext cx="103587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Schoolbook"/>
              <a:buChar char="●"/>
            </a:pPr>
            <a:r>
              <a:rPr lang="en-US" sz="19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They call during peak availability hours (10 AM–1 PM &amp; 4 PM–7 PM).</a:t>
            </a:r>
            <a:endParaRPr sz="19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lvl="0" indent="-3492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Schoolbook"/>
              <a:buChar char="●"/>
            </a:pPr>
            <a:r>
              <a:rPr lang="en-US" sz="19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They consistently follow up instead of relying on single attempts.</a:t>
            </a:r>
            <a:endParaRPr sz="1500" b="1"/>
          </a:p>
        </p:txBody>
      </p:sp>
      <p:sp>
        <p:nvSpPr>
          <p:cNvPr id="187" name="Google Shape;187;p20"/>
          <p:cNvSpPr txBox="1"/>
          <p:nvPr/>
        </p:nvSpPr>
        <p:spPr>
          <a:xfrm>
            <a:off x="2969750" y="3231725"/>
            <a:ext cx="4595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8288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lang="en-US" sz="2400" b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 Recommendations</a:t>
            </a:r>
            <a:endParaRPr sz="2000" b="1" u="sng"/>
          </a:p>
        </p:txBody>
      </p:sp>
      <p:sp>
        <p:nvSpPr>
          <p:cNvPr id="188" name="Google Shape;188;p20"/>
          <p:cNvSpPr txBox="1"/>
          <p:nvPr/>
        </p:nvSpPr>
        <p:spPr>
          <a:xfrm>
            <a:off x="1211025" y="4082125"/>
            <a:ext cx="3759000" cy="2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Prioritize follow-up calls for admitted but unpaid students.</a:t>
            </a:r>
            <a:endParaRPr sz="18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Share call scripts and strategies used by top-performing agents.</a:t>
            </a:r>
            <a:endParaRPr b="1"/>
          </a:p>
        </p:txBody>
      </p:sp>
      <p:sp>
        <p:nvSpPr>
          <p:cNvPr id="189" name="Google Shape;189;p20"/>
          <p:cNvSpPr txBox="1"/>
          <p:nvPr/>
        </p:nvSpPr>
        <p:spPr>
          <a:xfrm>
            <a:off x="6242275" y="4082125"/>
            <a:ext cx="3915600" cy="2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8288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Increase calling frequency during high-response time windows.</a:t>
            </a:r>
            <a:endParaRPr sz="18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18288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Provide transparent guidance regarding enrollment procedures.</a:t>
            </a:r>
            <a:endParaRPr b="1"/>
          </a:p>
        </p:txBody>
      </p:sp>
      <p:cxnSp>
        <p:nvCxnSpPr>
          <p:cNvPr id="190" name="Google Shape;190;p20"/>
          <p:cNvCxnSpPr/>
          <p:nvPr/>
        </p:nvCxnSpPr>
        <p:spPr>
          <a:xfrm rot="10800000">
            <a:off x="768900" y="6266100"/>
            <a:ext cx="4354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10800000">
            <a:off x="769000" y="3988600"/>
            <a:ext cx="4388100" cy="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>
            <a:off x="6109100" y="3988600"/>
            <a:ext cx="4388100" cy="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0"/>
          <p:cNvCxnSpPr/>
          <p:nvPr/>
        </p:nvCxnSpPr>
        <p:spPr>
          <a:xfrm rot="10800000">
            <a:off x="6242275" y="6266100"/>
            <a:ext cx="4354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67E8B1F3-C957-A952-5ADD-BA6A36798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91236" cy="3665986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2FE4442-2047-A0C0-02CB-C26985E48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236" y="0"/>
            <a:ext cx="6480356" cy="6858000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4707536-4048-3233-541E-26E779148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5986"/>
            <a:ext cx="4891236" cy="319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91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373113" y="503100"/>
            <a:ext cx="10683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DATA VALIDATION REPORT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entury Schoolbook"/>
              <a:buNone/>
            </a:pPr>
            <a:r>
              <a:rPr lang="en-US"/>
              <a:t>--------------------------------------------------------</a:t>
            </a:r>
            <a:endParaRPr/>
          </a:p>
        </p:txBody>
      </p:sp>
      <p:graphicFrame>
        <p:nvGraphicFramePr>
          <p:cNvPr id="199" name="Google Shape;199;p11"/>
          <p:cNvGraphicFramePr/>
          <p:nvPr/>
        </p:nvGraphicFramePr>
        <p:xfrm>
          <a:off x="1262063" y="1828800"/>
          <a:ext cx="8594700" cy="2225100"/>
        </p:xfrm>
        <a:graphic>
          <a:graphicData uri="http://schemas.openxmlformats.org/drawingml/2006/table">
            <a:tbl>
              <a:tblPr firstRow="1" bandRow="1">
                <a:noFill/>
                <a:tableStyleId>{E8298266-DFF9-4355-97A4-410C556346B8}</a:tableStyleId>
              </a:tblPr>
              <a:tblGrid>
                <a:gridCol w="214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74725" marR="747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0" name="Google Shape;200;p11"/>
          <p:cNvGraphicFramePr/>
          <p:nvPr/>
        </p:nvGraphicFramePr>
        <p:xfrm>
          <a:off x="447329" y="1828788"/>
          <a:ext cx="10535475" cy="4558750"/>
        </p:xfrm>
        <a:graphic>
          <a:graphicData uri="http://schemas.openxmlformats.org/drawingml/2006/table">
            <a:tbl>
              <a:tblPr>
                <a:noFill/>
                <a:tableStyleId>{0D53D2A2-B174-4775-BD0A-9C4DAB253BD5}</a:tableStyleId>
              </a:tblPr>
              <a:tblGrid>
                <a:gridCol w="269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 b="1"/>
                        <a:t>Validation Type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 b="1"/>
                        <a:t>Check Performed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 b="1"/>
                        <a:t>Issue Found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 b="1"/>
                        <a:t>Action Taken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Duplicate Records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Checked duplicates in app_id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Duplicates found and removed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Kept only unique app_id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Missing Values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Checked missing in key columns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Few missing countries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Excluded or labeled as "Unknown"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Business Rule Alignment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/>
                        <a:t>Connected calls + Disconnected calls = Total calls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All records consistent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No issue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Column Redundancy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Checked redundant columns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Found 4 redundant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Merged and removed unnecessary columns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Intake/Status Uniformity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All same values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Confirmed constant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lang="en-US" sz="1800"/>
                        <a:t>Removed columns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/>
        </p:nvSpPr>
        <p:spPr>
          <a:xfrm>
            <a:off x="2375170" y="2636196"/>
            <a:ext cx="74416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779</Words>
  <Application>Microsoft Office PowerPoint</Application>
  <PresentationFormat>Widescreen</PresentationFormat>
  <Paragraphs>124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Courier New</vt:lpstr>
      <vt:lpstr>Times New Roman</vt:lpstr>
      <vt:lpstr>Century Schoolbook</vt:lpstr>
      <vt:lpstr>Arial</vt:lpstr>
      <vt:lpstr>View</vt:lpstr>
      <vt:lpstr>View</vt:lpstr>
      <vt:lpstr>FINAL DELIVERABE   </vt:lpstr>
      <vt:lpstr>------------------------------------------------------ OBJECTIVE  ------------------------------------------------------</vt:lpstr>
      <vt:lpstr>-------------------------------------------------------- DATA CLEANING – SQL SCRIPT  --------------------------------------------------------</vt:lpstr>
      <vt:lpstr>-------------------------------------------------------- DATA CLEANING – SQL SCRIPT  -------------------------------------------------------- </vt:lpstr>
      <vt:lpstr>-------------------------------------------------------- DATA CLEANING – SQL SCRIPT  --------------------------------------------------------</vt:lpstr>
      <vt:lpstr>-------------------------------------------------------- DATA CLEANING – SQL SCRIPT &amp; LOOKER STUDIO DATA VALIDATION  --------------------------------------------------------</vt:lpstr>
      <vt:lpstr>-------------------------------------------------------- DATA ANALYSIS WITH LOOKER STUDIO -  Campaign Success Overview --------------------------------------------------------</vt:lpstr>
      <vt:lpstr>-------------------------------------------------------- DATA ANALYSIS WITH LOOKER STUDIO -  Response Status Overtime --------------------------------------------------------</vt:lpstr>
      <vt:lpstr>-------------------------------------------------------- DATA ANALYSIS WITH LOOKER STUDIO -  Agent Performance --------------------------------------------------------</vt:lpstr>
      <vt:lpstr>-------------------------------------------------------- DATA ANALYSIS WITH LOOKER STUDIO -  Participants Record --------------------------------------------------------</vt:lpstr>
      <vt:lpstr>------------------------------------------------------------ DATA INSIGHT - What Makes Top Agents Successful? ------------------------------------------------------------</vt:lpstr>
      <vt:lpstr>PowerPoint Presentation</vt:lpstr>
      <vt:lpstr>-------------------------------------------------------- DATA VALIDATION REPORT --------------------------------------------------------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Asma Batool</dc:creator>
  <cp:lastModifiedBy>Asma Batool</cp:lastModifiedBy>
  <cp:revision>3</cp:revision>
  <dcterms:created xsi:type="dcterms:W3CDTF">2025-10-26T18:25:30Z</dcterms:created>
  <dcterms:modified xsi:type="dcterms:W3CDTF">2025-11-02T18:55:33Z</dcterms:modified>
</cp:coreProperties>
</file>